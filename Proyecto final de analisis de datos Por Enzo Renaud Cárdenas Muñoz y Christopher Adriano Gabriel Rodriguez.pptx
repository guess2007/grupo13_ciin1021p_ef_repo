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8288000" cy="10287000"/>
  <p:notesSz cx="6858000" cy="9144000"/>
  <p:embeddedFontLst>
    <p:embeddedFont>
      <p:font typeface="Open Sans" panose="020B0606030504020204" pitchFamily="34" charset="0"/>
      <p:regular r:id="rId12"/>
    </p:embeddedFont>
    <p:embeddedFont>
      <p:font typeface="Open Sans Bold" panose="020B0604020202020204" charset="0"/>
      <p:regular r:id="rId13"/>
    </p:embeddedFont>
    <p:embeddedFont>
      <p:font typeface="The Seaso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1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7486" y="1769538"/>
            <a:ext cx="15833028" cy="5228150"/>
            <a:chOff x="0" y="0"/>
            <a:chExt cx="4170016" cy="13769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70016" cy="1376961"/>
            </a:xfrm>
            <a:custGeom>
              <a:avLst/>
              <a:gdLst/>
              <a:ahLst/>
              <a:cxnLst/>
              <a:rect l="l" t="t" r="r" b="b"/>
              <a:pathLst>
                <a:path w="4170016" h="1376961">
                  <a:moveTo>
                    <a:pt x="24938" y="0"/>
                  </a:moveTo>
                  <a:lnTo>
                    <a:pt x="4145078" y="0"/>
                  </a:lnTo>
                  <a:cubicBezTo>
                    <a:pt x="4151692" y="0"/>
                    <a:pt x="4158035" y="2627"/>
                    <a:pt x="4162711" y="7304"/>
                  </a:cubicBezTo>
                  <a:cubicBezTo>
                    <a:pt x="4167388" y="11981"/>
                    <a:pt x="4170016" y="18324"/>
                    <a:pt x="4170016" y="24938"/>
                  </a:cubicBezTo>
                  <a:lnTo>
                    <a:pt x="4170016" y="1352024"/>
                  </a:lnTo>
                  <a:cubicBezTo>
                    <a:pt x="4170016" y="1358638"/>
                    <a:pt x="4167388" y="1364981"/>
                    <a:pt x="4162711" y="1369657"/>
                  </a:cubicBezTo>
                  <a:cubicBezTo>
                    <a:pt x="4158035" y="1374334"/>
                    <a:pt x="4151692" y="1376961"/>
                    <a:pt x="4145078" y="1376961"/>
                  </a:cubicBezTo>
                  <a:lnTo>
                    <a:pt x="24938" y="1376961"/>
                  </a:lnTo>
                  <a:cubicBezTo>
                    <a:pt x="18324" y="1376961"/>
                    <a:pt x="11981" y="1374334"/>
                    <a:pt x="7304" y="1369657"/>
                  </a:cubicBezTo>
                  <a:cubicBezTo>
                    <a:pt x="2627" y="1364981"/>
                    <a:pt x="0" y="1358638"/>
                    <a:pt x="0" y="1352024"/>
                  </a:cubicBezTo>
                  <a:lnTo>
                    <a:pt x="0" y="24938"/>
                  </a:lnTo>
                  <a:cubicBezTo>
                    <a:pt x="0" y="18324"/>
                    <a:pt x="2627" y="11981"/>
                    <a:pt x="7304" y="7304"/>
                  </a:cubicBezTo>
                  <a:cubicBezTo>
                    <a:pt x="11981" y="2627"/>
                    <a:pt x="18324" y="0"/>
                    <a:pt x="24938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70016" cy="1415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051646" y="5318821"/>
            <a:ext cx="823719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 Enzo Renaud Cárdenas Muñoz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Christopher Adriano Gabriel Rodriguez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9968" y="2102674"/>
            <a:ext cx="15780546" cy="276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53"/>
              </a:lnSpc>
            </a:pPr>
            <a:r>
              <a:rPr lang="en-US" sz="796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Proyecto final de Base Datos Avanz. Y Big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934767"/>
            <a:ext cx="15976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2026 - 2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26889" y="9191625"/>
            <a:ext cx="283056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226434.23988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22018" y="1928993"/>
            <a:ext cx="8294823" cy="5529882"/>
          </a:xfrm>
          <a:custGeom>
            <a:avLst/>
            <a:gdLst/>
            <a:ahLst/>
            <a:cxnLst/>
            <a:rect l="l" t="t" r="r" b="b"/>
            <a:pathLst>
              <a:path w="8294823" h="5529882">
                <a:moveTo>
                  <a:pt x="0" y="0"/>
                </a:moveTo>
                <a:lnTo>
                  <a:pt x="8294823" y="0"/>
                </a:lnTo>
                <a:lnTo>
                  <a:pt x="8294823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3" name="Group 3"/>
          <p:cNvGrpSpPr/>
          <p:nvPr/>
        </p:nvGrpSpPr>
        <p:grpSpPr>
          <a:xfrm>
            <a:off x="623519" y="429648"/>
            <a:ext cx="6991838" cy="9427703"/>
            <a:chOff x="0" y="0"/>
            <a:chExt cx="1841472" cy="24830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1472" cy="2483016"/>
            </a:xfrm>
            <a:custGeom>
              <a:avLst/>
              <a:gdLst/>
              <a:ahLst/>
              <a:cxnLst/>
              <a:rect l="l" t="t" r="r" b="b"/>
              <a:pathLst>
                <a:path w="1841472" h="2483016">
                  <a:moveTo>
                    <a:pt x="56471" y="0"/>
                  </a:moveTo>
                  <a:lnTo>
                    <a:pt x="1785000" y="0"/>
                  </a:lnTo>
                  <a:cubicBezTo>
                    <a:pt x="1816189" y="0"/>
                    <a:pt x="1841472" y="25283"/>
                    <a:pt x="1841472" y="56471"/>
                  </a:cubicBezTo>
                  <a:lnTo>
                    <a:pt x="1841472" y="2426545"/>
                  </a:lnTo>
                  <a:cubicBezTo>
                    <a:pt x="1841472" y="2457734"/>
                    <a:pt x="1816189" y="2483016"/>
                    <a:pt x="1785000" y="2483016"/>
                  </a:cubicBezTo>
                  <a:lnTo>
                    <a:pt x="56471" y="2483016"/>
                  </a:lnTo>
                  <a:cubicBezTo>
                    <a:pt x="25283" y="2483016"/>
                    <a:pt x="0" y="2457734"/>
                    <a:pt x="0" y="2426545"/>
                  </a:cubicBezTo>
                  <a:lnTo>
                    <a:pt x="0" y="56471"/>
                  </a:lnTo>
                  <a:cubicBezTo>
                    <a:pt x="0" y="25283"/>
                    <a:pt x="25283" y="0"/>
                    <a:pt x="56471" y="0"/>
                  </a:cubicBezTo>
                  <a:close/>
                </a:path>
              </a:pathLst>
            </a:custGeom>
            <a:solidFill>
              <a:srgbClr val="000000"/>
            </a:solidFill>
            <a:ln w="171450" cap="rnd">
              <a:solidFill>
                <a:srgbClr val="FFA51F"/>
              </a:solidFill>
              <a:prstDash val="solid"/>
              <a:round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41472" cy="2521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85085"/>
            <a:ext cx="6181476" cy="226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1"/>
              </a:lnSpc>
            </a:pPr>
            <a:r>
              <a:rPr lang="en-US" sz="6365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Contexto problematico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3519" y="2749373"/>
            <a:ext cx="6991838" cy="7107978"/>
            <a:chOff x="0" y="0"/>
            <a:chExt cx="1841472" cy="18720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1472" cy="1872060"/>
            </a:xfrm>
            <a:custGeom>
              <a:avLst/>
              <a:gdLst/>
              <a:ahLst/>
              <a:cxnLst/>
              <a:rect l="l" t="t" r="r" b="b"/>
              <a:pathLst>
                <a:path w="1841472" h="1872060">
                  <a:moveTo>
                    <a:pt x="56471" y="0"/>
                  </a:moveTo>
                  <a:lnTo>
                    <a:pt x="1785000" y="0"/>
                  </a:lnTo>
                  <a:cubicBezTo>
                    <a:pt x="1816189" y="0"/>
                    <a:pt x="1841472" y="25283"/>
                    <a:pt x="1841472" y="56471"/>
                  </a:cubicBezTo>
                  <a:lnTo>
                    <a:pt x="1841472" y="1815589"/>
                  </a:lnTo>
                  <a:cubicBezTo>
                    <a:pt x="1841472" y="1846777"/>
                    <a:pt x="1816189" y="1872060"/>
                    <a:pt x="1785000" y="1872060"/>
                  </a:cubicBezTo>
                  <a:lnTo>
                    <a:pt x="56471" y="1872060"/>
                  </a:lnTo>
                  <a:cubicBezTo>
                    <a:pt x="25283" y="1872060"/>
                    <a:pt x="0" y="1846777"/>
                    <a:pt x="0" y="1815589"/>
                  </a:cubicBezTo>
                  <a:lnTo>
                    <a:pt x="0" y="56471"/>
                  </a:lnTo>
                  <a:cubicBezTo>
                    <a:pt x="0" y="25283"/>
                    <a:pt x="25283" y="0"/>
                    <a:pt x="56471" y="0"/>
                  </a:cubicBezTo>
                  <a:close/>
                </a:path>
              </a:pathLst>
            </a:custGeom>
            <a:solidFill>
              <a:srgbClr val="000000"/>
            </a:solidFill>
            <a:ln w="171450" cap="rnd">
              <a:solidFill>
                <a:srgbClr val="FFA51F"/>
              </a:solidFill>
              <a:prstDash val="solid"/>
              <a:round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41472" cy="1910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69696" y="3079077"/>
            <a:ext cx="6099484" cy="6391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</a:pPr>
            <a:r>
              <a:rPr lang="en-US" sz="26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lo largo de los meses, los usuarios que han estado ingresando a la base de datos de MINSA se han topado con obstaculos para desarrollar un buen analisis e informe de los datasets dispuestos en esta plataforma publica relacionada a las obras publicas, estos problemas suelen estan relacionados a datos nulos o repetidos, los usuarios necesitan una solucion a este problema ya que si estos casos se repiten temen que no podran confiar en esta fuente publica para sus investigaciones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3131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1552" y="5647482"/>
            <a:ext cx="8275123" cy="3657917"/>
            <a:chOff x="0" y="0"/>
            <a:chExt cx="2179456" cy="963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9456" cy="963402"/>
            </a:xfrm>
            <a:custGeom>
              <a:avLst/>
              <a:gdLst/>
              <a:ahLst/>
              <a:cxnLst/>
              <a:rect l="l" t="t" r="r" b="b"/>
              <a:pathLst>
                <a:path w="2179456" h="963402">
                  <a:moveTo>
                    <a:pt x="47714" y="0"/>
                  </a:moveTo>
                  <a:lnTo>
                    <a:pt x="2131742" y="0"/>
                  </a:lnTo>
                  <a:cubicBezTo>
                    <a:pt x="2158094" y="0"/>
                    <a:pt x="2179456" y="21362"/>
                    <a:pt x="2179456" y="47714"/>
                  </a:cubicBezTo>
                  <a:lnTo>
                    <a:pt x="2179456" y="915688"/>
                  </a:lnTo>
                  <a:cubicBezTo>
                    <a:pt x="2179456" y="928343"/>
                    <a:pt x="2174429" y="940479"/>
                    <a:pt x="2165481" y="949427"/>
                  </a:cubicBezTo>
                  <a:cubicBezTo>
                    <a:pt x="2156533" y="958375"/>
                    <a:pt x="2144397" y="963402"/>
                    <a:pt x="2131742" y="963402"/>
                  </a:cubicBezTo>
                  <a:lnTo>
                    <a:pt x="47714" y="963402"/>
                  </a:lnTo>
                  <a:cubicBezTo>
                    <a:pt x="35059" y="963402"/>
                    <a:pt x="22923" y="958375"/>
                    <a:pt x="13975" y="949427"/>
                  </a:cubicBezTo>
                  <a:cubicBezTo>
                    <a:pt x="5027" y="940479"/>
                    <a:pt x="0" y="928343"/>
                    <a:pt x="0" y="915688"/>
                  </a:cubicBezTo>
                  <a:lnTo>
                    <a:pt x="0" y="47714"/>
                  </a:lnTo>
                  <a:cubicBezTo>
                    <a:pt x="0" y="35059"/>
                    <a:pt x="5027" y="22923"/>
                    <a:pt x="13975" y="13975"/>
                  </a:cubicBezTo>
                  <a:cubicBezTo>
                    <a:pt x="22923" y="5027"/>
                    <a:pt x="35059" y="0"/>
                    <a:pt x="47714" y="0"/>
                  </a:cubicBez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79456" cy="1001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5" name="Object 5"/>
          <p:cNvGraphicFramePr/>
          <p:nvPr/>
        </p:nvGraphicFramePr>
        <p:xfrm>
          <a:off x="9727213" y="5904816"/>
          <a:ext cx="754380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42400" imgH="4648200" progId="Excel.Sheet.12">
                  <p:embed/>
                </p:oleObj>
              </mc:Choice>
              <mc:Fallback>
                <p:oleObj name="Worksheet" r:id="rId2" imgW="9042400" imgH="4648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27213" y="5904816"/>
                        <a:ext cx="754380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9361552" y="1075800"/>
            <a:ext cx="8275123" cy="3657917"/>
            <a:chOff x="0" y="0"/>
            <a:chExt cx="2179456" cy="9634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9456" cy="963402"/>
            </a:xfrm>
            <a:custGeom>
              <a:avLst/>
              <a:gdLst/>
              <a:ahLst/>
              <a:cxnLst/>
              <a:rect l="l" t="t" r="r" b="b"/>
              <a:pathLst>
                <a:path w="2179456" h="963402">
                  <a:moveTo>
                    <a:pt x="47714" y="0"/>
                  </a:moveTo>
                  <a:lnTo>
                    <a:pt x="2131742" y="0"/>
                  </a:lnTo>
                  <a:cubicBezTo>
                    <a:pt x="2158094" y="0"/>
                    <a:pt x="2179456" y="21362"/>
                    <a:pt x="2179456" y="47714"/>
                  </a:cubicBezTo>
                  <a:lnTo>
                    <a:pt x="2179456" y="915688"/>
                  </a:lnTo>
                  <a:cubicBezTo>
                    <a:pt x="2179456" y="928343"/>
                    <a:pt x="2174429" y="940479"/>
                    <a:pt x="2165481" y="949427"/>
                  </a:cubicBezTo>
                  <a:cubicBezTo>
                    <a:pt x="2156533" y="958375"/>
                    <a:pt x="2144397" y="963402"/>
                    <a:pt x="2131742" y="963402"/>
                  </a:cubicBezTo>
                  <a:lnTo>
                    <a:pt x="47714" y="963402"/>
                  </a:lnTo>
                  <a:cubicBezTo>
                    <a:pt x="35059" y="963402"/>
                    <a:pt x="22923" y="958375"/>
                    <a:pt x="13975" y="949427"/>
                  </a:cubicBezTo>
                  <a:cubicBezTo>
                    <a:pt x="5027" y="940479"/>
                    <a:pt x="0" y="928343"/>
                    <a:pt x="0" y="915688"/>
                  </a:cubicBezTo>
                  <a:lnTo>
                    <a:pt x="0" y="47714"/>
                  </a:lnTo>
                  <a:cubicBezTo>
                    <a:pt x="0" y="35059"/>
                    <a:pt x="5027" y="22923"/>
                    <a:pt x="13975" y="13975"/>
                  </a:cubicBezTo>
                  <a:cubicBezTo>
                    <a:pt x="22923" y="5027"/>
                    <a:pt x="35059" y="0"/>
                    <a:pt x="47714" y="0"/>
                  </a:cubicBez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79456" cy="1001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9" name="Object 9"/>
          <p:cNvGraphicFramePr/>
          <p:nvPr/>
        </p:nvGraphicFramePr>
        <p:xfrm>
          <a:off x="9715500" y="1705402"/>
          <a:ext cx="7543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042400" imgH="4013200" progId="Excel.Sheet.12">
                  <p:embed/>
                </p:oleObj>
              </mc:Choice>
              <mc:Fallback>
                <p:oleObj name="Worksheet" r:id="rId4" imgW="9042400" imgH="4013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15500" y="1705402"/>
                        <a:ext cx="75438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217552" y="1028700"/>
            <a:ext cx="8926448" cy="8229600"/>
            <a:chOff x="0" y="0"/>
            <a:chExt cx="2350999" cy="21674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50999" cy="2167467"/>
            </a:xfrm>
            <a:custGeom>
              <a:avLst/>
              <a:gdLst/>
              <a:ahLst/>
              <a:cxnLst/>
              <a:rect l="l" t="t" r="r" b="b"/>
              <a:pathLst>
                <a:path w="2350999" h="2167467">
                  <a:moveTo>
                    <a:pt x="44232" y="0"/>
                  </a:moveTo>
                  <a:lnTo>
                    <a:pt x="2306766" y="0"/>
                  </a:lnTo>
                  <a:cubicBezTo>
                    <a:pt x="2331195" y="0"/>
                    <a:pt x="2350999" y="19804"/>
                    <a:pt x="2350999" y="44232"/>
                  </a:cubicBezTo>
                  <a:lnTo>
                    <a:pt x="2350999" y="2123234"/>
                  </a:lnTo>
                  <a:cubicBezTo>
                    <a:pt x="2350999" y="2134966"/>
                    <a:pt x="2346339" y="2146216"/>
                    <a:pt x="2338043" y="2154511"/>
                  </a:cubicBezTo>
                  <a:cubicBezTo>
                    <a:pt x="2329748" y="2162807"/>
                    <a:pt x="2318498" y="2167467"/>
                    <a:pt x="2306766" y="2167467"/>
                  </a:cubicBezTo>
                  <a:lnTo>
                    <a:pt x="44232" y="2167467"/>
                  </a:lnTo>
                  <a:cubicBezTo>
                    <a:pt x="32501" y="2167467"/>
                    <a:pt x="21251" y="2162807"/>
                    <a:pt x="12955" y="2154511"/>
                  </a:cubicBezTo>
                  <a:cubicBezTo>
                    <a:pt x="4660" y="2146216"/>
                    <a:pt x="0" y="2134966"/>
                    <a:pt x="0" y="2123234"/>
                  </a:cubicBezTo>
                  <a:lnTo>
                    <a:pt x="0" y="44232"/>
                  </a:lnTo>
                  <a:cubicBezTo>
                    <a:pt x="0" y="32501"/>
                    <a:pt x="4660" y="21251"/>
                    <a:pt x="12955" y="12955"/>
                  </a:cubicBezTo>
                  <a:cubicBezTo>
                    <a:pt x="21251" y="4660"/>
                    <a:pt x="32501" y="0"/>
                    <a:pt x="4423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50999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7552" y="2353102"/>
            <a:ext cx="8926448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ambos casos cerca del 30% de registros estan siendo afectados por datos duplicados, registros mal ingresados, o nulos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0731" y="4867067"/>
            <a:ext cx="310009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Consecuencias: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03347" y="1638727"/>
            <a:ext cx="195485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552" y="5580807"/>
            <a:ext cx="892644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Perdida de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personales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ineficacia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bridamiento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servicio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al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publico</a:t>
            </a: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C8911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4892" y="2919522"/>
            <a:ext cx="6302666" cy="5750608"/>
          </a:xfrm>
          <a:custGeom>
            <a:avLst/>
            <a:gdLst/>
            <a:ahLst/>
            <a:cxnLst/>
            <a:rect l="l" t="t" r="r" b="b"/>
            <a:pathLst>
              <a:path w="6302666" h="5750608">
                <a:moveTo>
                  <a:pt x="0" y="0"/>
                </a:moveTo>
                <a:lnTo>
                  <a:pt x="6302666" y="0"/>
                </a:lnTo>
                <a:lnTo>
                  <a:pt x="6302666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8532149" y="3532698"/>
            <a:ext cx="9027982" cy="3221603"/>
          </a:xfrm>
          <a:custGeom>
            <a:avLst/>
            <a:gdLst/>
            <a:ahLst/>
            <a:cxnLst/>
            <a:rect l="l" t="t" r="r" b="b"/>
            <a:pathLst>
              <a:path w="9027982" h="3221603">
                <a:moveTo>
                  <a:pt x="0" y="0"/>
                </a:moveTo>
                <a:lnTo>
                  <a:pt x="9027981" y="0"/>
                </a:lnTo>
                <a:lnTo>
                  <a:pt x="9027981" y="3221604"/>
                </a:lnTo>
                <a:lnTo>
                  <a:pt x="0" y="3221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TextBox 4"/>
          <p:cNvSpPr txBox="1"/>
          <p:nvPr/>
        </p:nvSpPr>
        <p:spPr>
          <a:xfrm>
            <a:off x="1028700" y="159703"/>
            <a:ext cx="591472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Script SQL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630997"/>
            <a:ext cx="591472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Automatizacion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C8911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63704" y="1895485"/>
            <a:ext cx="5003046" cy="5704186"/>
          </a:xfrm>
          <a:custGeom>
            <a:avLst/>
            <a:gdLst/>
            <a:ahLst/>
            <a:cxnLst/>
            <a:rect l="l" t="t" r="r" b="b"/>
            <a:pathLst>
              <a:path w="5003046" h="5704186">
                <a:moveTo>
                  <a:pt x="0" y="0"/>
                </a:moveTo>
                <a:lnTo>
                  <a:pt x="5003046" y="0"/>
                </a:lnTo>
                <a:lnTo>
                  <a:pt x="5003046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3229273" y="3878580"/>
            <a:ext cx="591472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Script SQL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29273" y="5349875"/>
            <a:ext cx="591472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C8911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1440" y="3416618"/>
            <a:ext cx="591472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Script SQL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61440" y="4887912"/>
            <a:ext cx="5914727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Inteligencia de negocios</a:t>
            </a:r>
          </a:p>
        </p:txBody>
      </p:sp>
      <p:sp>
        <p:nvSpPr>
          <p:cNvPr id="4" name="Freeform 4"/>
          <p:cNvSpPr/>
          <p:nvPr/>
        </p:nvSpPr>
        <p:spPr>
          <a:xfrm>
            <a:off x="10987531" y="1538046"/>
            <a:ext cx="5802618" cy="6419063"/>
          </a:xfrm>
          <a:custGeom>
            <a:avLst/>
            <a:gdLst/>
            <a:ahLst/>
            <a:cxnLst/>
            <a:rect l="l" t="t" r="r" b="b"/>
            <a:pathLst>
              <a:path w="5802618" h="6419063">
                <a:moveTo>
                  <a:pt x="0" y="0"/>
                </a:moveTo>
                <a:lnTo>
                  <a:pt x="5802618" y="0"/>
                </a:lnTo>
                <a:lnTo>
                  <a:pt x="5802618" y="6419063"/>
                </a:lnTo>
                <a:lnTo>
                  <a:pt x="0" y="6419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377217"/>
            <a:ext cx="5967332" cy="5628136"/>
          </a:xfrm>
          <a:custGeom>
            <a:avLst/>
            <a:gdLst/>
            <a:ahLst/>
            <a:cxnLst/>
            <a:rect l="l" t="t" r="r" b="b"/>
            <a:pathLst>
              <a:path w="5967332" h="5628136">
                <a:moveTo>
                  <a:pt x="0" y="0"/>
                </a:moveTo>
                <a:lnTo>
                  <a:pt x="5967332" y="0"/>
                </a:lnTo>
                <a:lnTo>
                  <a:pt x="5967332" y="5628136"/>
                </a:lnTo>
                <a:lnTo>
                  <a:pt x="0" y="5628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9144000" y="3353212"/>
            <a:ext cx="7564982" cy="5652140"/>
          </a:xfrm>
          <a:custGeom>
            <a:avLst/>
            <a:gdLst/>
            <a:ahLst/>
            <a:cxnLst/>
            <a:rect l="l" t="t" r="r" b="b"/>
            <a:pathLst>
              <a:path w="7564982" h="5652140">
                <a:moveTo>
                  <a:pt x="0" y="0"/>
                </a:moveTo>
                <a:lnTo>
                  <a:pt x="7564982" y="0"/>
                </a:lnTo>
                <a:lnTo>
                  <a:pt x="7564982" y="5652141"/>
                </a:lnTo>
                <a:lnTo>
                  <a:pt x="0" y="565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TextBox 4"/>
          <p:cNvSpPr txBox="1"/>
          <p:nvPr/>
        </p:nvSpPr>
        <p:spPr>
          <a:xfrm>
            <a:off x="0" y="197803"/>
            <a:ext cx="7972127" cy="250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KPI: Dashboard de las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0969" y="7832739"/>
            <a:ext cx="6886352" cy="2154406"/>
            <a:chOff x="0" y="0"/>
            <a:chExt cx="3003316" cy="939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03316" cy="939592"/>
            </a:xfrm>
            <a:custGeom>
              <a:avLst/>
              <a:gdLst/>
              <a:ahLst/>
              <a:cxnLst/>
              <a:rect l="l" t="t" r="r" b="b"/>
              <a:pathLst>
                <a:path w="3003316" h="939592">
                  <a:moveTo>
                    <a:pt x="57336" y="0"/>
                  </a:moveTo>
                  <a:lnTo>
                    <a:pt x="2945980" y="0"/>
                  </a:lnTo>
                  <a:cubicBezTo>
                    <a:pt x="2961186" y="0"/>
                    <a:pt x="2975770" y="6041"/>
                    <a:pt x="2986523" y="16793"/>
                  </a:cubicBezTo>
                  <a:cubicBezTo>
                    <a:pt x="2997275" y="27546"/>
                    <a:pt x="3003316" y="42130"/>
                    <a:pt x="3003316" y="57336"/>
                  </a:cubicBezTo>
                  <a:lnTo>
                    <a:pt x="3003316" y="882256"/>
                  </a:lnTo>
                  <a:cubicBezTo>
                    <a:pt x="3003316" y="897462"/>
                    <a:pt x="2997275" y="912046"/>
                    <a:pt x="2986523" y="922799"/>
                  </a:cubicBezTo>
                  <a:cubicBezTo>
                    <a:pt x="2975770" y="933551"/>
                    <a:pt x="2961186" y="939592"/>
                    <a:pt x="2945980" y="939592"/>
                  </a:cubicBezTo>
                  <a:lnTo>
                    <a:pt x="57336" y="939592"/>
                  </a:lnTo>
                  <a:cubicBezTo>
                    <a:pt x="42130" y="939592"/>
                    <a:pt x="27546" y="933551"/>
                    <a:pt x="16793" y="922799"/>
                  </a:cubicBezTo>
                  <a:cubicBezTo>
                    <a:pt x="6041" y="912046"/>
                    <a:pt x="0" y="897462"/>
                    <a:pt x="0" y="882256"/>
                  </a:cubicBezTo>
                  <a:lnTo>
                    <a:pt x="0" y="57336"/>
                  </a:lnTo>
                  <a:cubicBezTo>
                    <a:pt x="0" y="42130"/>
                    <a:pt x="6041" y="27546"/>
                    <a:pt x="16793" y="16793"/>
                  </a:cubicBezTo>
                  <a:cubicBezTo>
                    <a:pt x="27546" y="6041"/>
                    <a:pt x="42130" y="0"/>
                    <a:pt x="57336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03316" cy="977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876806" y="726995"/>
            <a:ext cx="11460635" cy="6417955"/>
          </a:xfrm>
          <a:custGeom>
            <a:avLst/>
            <a:gdLst/>
            <a:ahLst/>
            <a:cxnLst/>
            <a:rect l="l" t="t" r="r" b="b"/>
            <a:pathLst>
              <a:path w="11460635" h="6417955">
                <a:moveTo>
                  <a:pt x="0" y="0"/>
                </a:moveTo>
                <a:lnTo>
                  <a:pt x="11460635" y="0"/>
                </a:lnTo>
                <a:lnTo>
                  <a:pt x="11460635" y="6417955"/>
                </a:lnTo>
                <a:lnTo>
                  <a:pt x="0" y="6417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TextBox 6"/>
          <p:cNvSpPr txBox="1"/>
          <p:nvPr/>
        </p:nvSpPr>
        <p:spPr>
          <a:xfrm>
            <a:off x="1453882" y="8250086"/>
            <a:ext cx="6380524" cy="125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6"/>
              </a:lnSpc>
            </a:pPr>
            <a:r>
              <a:rPr lang="en-US" sz="36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Metodologia:</a:t>
            </a:r>
          </a:p>
          <a:p>
            <a:pPr algn="ctr">
              <a:lnSpc>
                <a:spcPts val="5046"/>
              </a:lnSpc>
            </a:pPr>
            <a:r>
              <a:rPr lang="en-US" sz="36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Kimball vs Inmom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246063" y="3257550"/>
          <a:ext cx="56578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81800" imgH="4902200" progId="Excel.Sheet.12">
                  <p:embed/>
                </p:oleObj>
              </mc:Choice>
              <mc:Fallback>
                <p:oleObj name="Worksheet" r:id="rId2" imgW="6781800" imgH="490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46063" y="3257550"/>
                        <a:ext cx="565785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591800" y="2644140"/>
            <a:ext cx="622265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SMSS y  Spark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5199062"/>
            <a:ext cx="860140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</a:t>
            </a:r>
            <a:r>
              <a:rPr lang="en-US" sz="5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vs </a:t>
            </a:r>
            <a:r>
              <a:rPr lang="en-US" sz="51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velocidad</a:t>
            </a:r>
            <a:endParaRPr lang="en-US" sz="51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5949330" y="4274503"/>
            <a:ext cx="638934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Personalizado</PresentationFormat>
  <Paragraphs>23</Paragraphs>
  <Slides>10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The Seasons Bold</vt:lpstr>
      <vt:lpstr>Open Sans</vt:lpstr>
      <vt:lpstr>Arial</vt:lpstr>
      <vt:lpstr>Open Sans Bold</vt:lpstr>
      <vt:lpstr>Calibri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de analisis de datos Por Enzo Renaud Cárdenas Muñoz y Christopher Adriano Gabriel Rodriguez</dc:title>
  <cp:lastModifiedBy>Enzo Renaud Cárdenas Muñoz</cp:lastModifiedBy>
  <cp:revision>2</cp:revision>
  <dcterms:created xsi:type="dcterms:W3CDTF">2006-08-16T00:00:00Z</dcterms:created>
  <dcterms:modified xsi:type="dcterms:W3CDTF">2026-10-10T16:40:57Z</dcterms:modified>
  <dc:identifier>DAHXjL3C9dQ</dc:identifier>
</cp:coreProperties>
</file>